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sldIdLst>
    <p:sldId id="256" r:id="rId2"/>
    <p:sldId id="259" r:id="rId3"/>
    <p:sldId id="258" r:id="rId4"/>
    <p:sldId id="260" r:id="rId5"/>
    <p:sldId id="264" r:id="rId6"/>
    <p:sldId id="265"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p:cViewPr varScale="1">
        <p:scale>
          <a:sx n="79" d="100"/>
          <a:sy n="79" d="100"/>
        </p:scale>
        <p:origin x="10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DDAC322-28B5-44A9-96A0-8DD165B1F0A4}"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3564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1678527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2696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DEACD-FB66-44BB-BF5E-FE455EA08422}" type="datetimeFigureOut">
              <a:rPr lang="en-IN" smtClean="0"/>
              <a:t>08-05-2022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3986061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DEACD-FB66-44BB-BF5E-FE455EA08422}" type="datetimeFigureOut">
              <a:rPr lang="en-IN" smtClean="0"/>
              <a:t>08-05-2022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DAC322-28B5-44A9-96A0-8DD165B1F0A4}"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025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DEACD-FB66-44BB-BF5E-FE455EA08422}" type="datetimeFigureOut">
              <a:rPr lang="en-IN" smtClean="0"/>
              <a:t>08-05-2022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DAC322-28B5-44A9-96A0-8DD165B1F0A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934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DEACD-FB66-44BB-BF5E-FE455EA08422}" type="datetimeFigureOut">
              <a:rPr lang="en-IN" smtClean="0"/>
              <a:t>08-05-2022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179662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FDEACD-FB66-44BB-BF5E-FE455EA08422}" type="datetimeFigureOut">
              <a:rPr lang="en-IN" smtClean="0"/>
              <a:t>08-05-2022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DAC322-28B5-44A9-96A0-8DD165B1F0A4}"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635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FDEACD-FB66-44BB-BF5E-FE455EA08422}" type="datetimeFigureOut">
              <a:rPr lang="en-IN" smtClean="0"/>
              <a:t>08-05-2022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120722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FDEACD-FB66-44BB-BF5E-FE455EA08422}" type="datetimeFigureOut">
              <a:rPr lang="en-IN" smtClean="0"/>
              <a:t>08-05-2022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154341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338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0055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spTree>
    <p:extLst>
      <p:ext uri="{BB962C8B-B14F-4D97-AF65-F5344CB8AC3E}">
        <p14:creationId xmlns:p14="http://schemas.microsoft.com/office/powerpoint/2010/main" val="2253070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6834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5993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2809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DEACD-FB66-44BB-BF5E-FE455EA08422}" type="datetimeFigureOut">
              <a:rPr lang="en-IN" smtClean="0"/>
              <a:t>08-05-2022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DAC322-28B5-44A9-96A0-8DD165B1F0A4}"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6370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9FDEACD-FB66-44BB-BF5E-FE455EA08422}" type="datetimeFigureOut">
              <a:rPr lang="en-IN" smtClean="0"/>
              <a:t>08-05-2022</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DAC322-28B5-44A9-96A0-8DD165B1F0A4}" type="slidenum">
              <a:rPr lang="en-IN" smtClean="0"/>
              <a:t>‹#›</a:t>
            </a:fld>
            <a:endParaRPr lang="en-IN"/>
          </a:p>
        </p:txBody>
      </p:sp>
    </p:spTree>
    <p:extLst>
      <p:ext uri="{BB962C8B-B14F-4D97-AF65-F5344CB8AC3E}">
        <p14:creationId xmlns:p14="http://schemas.microsoft.com/office/powerpoint/2010/main" val="4120848398"/>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208EC-07CF-4532-9532-92AA518C1887}"/>
              </a:ext>
            </a:extLst>
          </p:cNvPr>
          <p:cNvSpPr>
            <a:spLocks noGrp="1"/>
          </p:cNvSpPr>
          <p:nvPr>
            <p:ph type="ctrTitle"/>
          </p:nvPr>
        </p:nvSpPr>
        <p:spPr>
          <a:xfrm>
            <a:off x="1524000" y="941033"/>
            <a:ext cx="9144000" cy="2219417"/>
          </a:xfrm>
        </p:spPr>
        <p:txBody>
          <a:bodyPr>
            <a:normAutofit/>
          </a:bodyPr>
          <a:lstStyle/>
          <a:p>
            <a:r>
              <a:rPr lang="en-SG" sz="2400" b="1" i="1" kern="18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WITNESS PROOF GENERATION WITH SECURE AND VERIFICATION FOR PASSPORT APPROVAL</a:t>
            </a:r>
            <a:endParaRPr lang="en-IN" sz="2400" i="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3DB0DE8-0B2A-4975-9CBB-EFBD2D5CFECB}"/>
              </a:ext>
            </a:extLst>
          </p:cNvPr>
          <p:cNvSpPr>
            <a:spLocks noGrp="1"/>
          </p:cNvSpPr>
          <p:nvPr>
            <p:ph type="subTitle" idx="1"/>
          </p:nvPr>
        </p:nvSpPr>
        <p:spPr>
          <a:xfrm>
            <a:off x="2692398" y="3657596"/>
            <a:ext cx="6815669" cy="1828803"/>
          </a:xfrm>
        </p:spPr>
        <p:txBody>
          <a:bodyPr>
            <a:noAutofit/>
          </a:bodyPr>
          <a:lstStyle/>
          <a:p>
            <a:pPr>
              <a:lnSpc>
                <a:spcPct val="170000"/>
              </a:lnSpc>
              <a:spcBef>
                <a:spcPts val="1800"/>
              </a:spcBef>
            </a:pPr>
            <a:r>
              <a:rPr lang="en-SG" sz="2000" b="1" i="1"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BATCHMATES:</a:t>
            </a:r>
            <a:br>
              <a:rPr lang="en-IN" sz="2000" b="1" i="1" dirty="0">
                <a:effectLst/>
                <a:latin typeface="Times New Roman" panose="02020603050405020304" pitchFamily="18" charset="0"/>
                <a:ea typeface="Calibri" panose="020F0502020204030204" pitchFamily="34" charset="0"/>
                <a:cs typeface="Times New Roman" panose="02020603050405020304" pitchFamily="18" charset="0"/>
              </a:rPr>
            </a:br>
            <a:r>
              <a:rPr lang="en-SG" sz="2000" b="1" i="1"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SORNALATHA M K   (410718104073)</a:t>
            </a:r>
            <a:br>
              <a:rPr lang="en-IN" sz="2000" b="1" i="1" dirty="0">
                <a:effectLst/>
                <a:latin typeface="Times New Roman" panose="02020603050405020304" pitchFamily="18" charset="0"/>
                <a:ea typeface="Calibri" panose="020F0502020204030204" pitchFamily="34" charset="0"/>
                <a:cs typeface="Times New Roman" panose="02020603050405020304" pitchFamily="18" charset="0"/>
              </a:rPr>
            </a:br>
            <a:r>
              <a:rPr lang="en-SG" sz="2000" b="1" i="1"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SWATHI D  (410718104080)</a:t>
            </a:r>
            <a:br>
              <a:rPr lang="en-IN" sz="2000" b="1" i="1"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979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7F964F-0B2E-4D03-9A33-1AD590037572}"/>
              </a:ext>
            </a:extLst>
          </p:cNvPr>
          <p:cNvSpPr txBox="1"/>
          <p:nvPr/>
        </p:nvSpPr>
        <p:spPr>
          <a:xfrm>
            <a:off x="942108" y="825623"/>
            <a:ext cx="10160001" cy="4955203"/>
          </a:xfrm>
          <a:prstGeom prst="rect">
            <a:avLst/>
          </a:prstGeom>
          <a:noFill/>
        </p:spPr>
        <p:txBody>
          <a:bodyPr wrap="square" rtlCol="0">
            <a:spAutoFit/>
          </a:bodyPr>
          <a:lstStyle/>
          <a:p>
            <a:pPr marL="0" indent="0" algn="just">
              <a:buNone/>
            </a:pPr>
            <a:r>
              <a:rPr lang="en-US" sz="2800" b="1" dirty="0">
                <a:latin typeface="Times New Roman" panose="02020603050405020304" pitchFamily="18" charset="0"/>
                <a:cs typeface="Times New Roman" panose="02020603050405020304" pitchFamily="18" charset="0"/>
              </a:rPr>
              <a:t>INTRODUCTION:</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These applications are very popular due to the useful services they offer. According to recent business reports, the market value of LBSs was U.S. $20.53 billion. LBSPs are vulnerable to location spoofing attacks since dishonest users are incentivized to lie about their location and submit fake position data. The malicious users can submit fake locations to the database to access channels that are not available in their location. In location-based access control applications attackers can gain unauthorized access to a system or resource by submitting fake location claims. In activity-tracking applications, we propose a distributed LP scheme, Privacy-Aware and Secure Proof Of </a:t>
            </a:r>
            <a:r>
              <a:rPr lang="en-US" dirty="0" err="1">
                <a:latin typeface="Times New Roman" panose="02020603050405020304" pitchFamily="18" charset="0"/>
                <a:cs typeface="Times New Roman" panose="02020603050405020304" pitchFamily="18" charset="0"/>
              </a:rPr>
              <a:t>pRoximiTy</a:t>
            </a:r>
            <a:r>
              <a:rPr lang="en-US" dirty="0">
                <a:latin typeface="Times New Roman" panose="02020603050405020304" pitchFamily="18" charset="0"/>
                <a:cs typeface="Times New Roman" panose="02020603050405020304" pitchFamily="18" charset="0"/>
              </a:rPr>
              <a:t> (PASPORT), which performs LP generation and verification for mobile users in a secure and privacy-aware manner. , the proposed scheme is vulnerable against relay attacks and specifically against terrorist frauds. In other words, their algorithm lacks a mechanism by which the location manager ensures that the received ID is really for the user who has submitted the LP request The proposed scheme provides the integrity and </a:t>
            </a:r>
            <a:r>
              <a:rPr lang="en-US" dirty="0" err="1">
                <a:latin typeface="Times New Roman" panose="02020603050405020304" pitchFamily="18" charset="0"/>
                <a:cs typeface="Times New Roman" panose="02020603050405020304" pitchFamily="18" charset="0"/>
              </a:rPr>
              <a:t>nontransferablity</a:t>
            </a:r>
            <a:r>
              <a:rPr lang="en-US" dirty="0">
                <a:latin typeface="Times New Roman" panose="02020603050405020304" pitchFamily="18" charset="0"/>
                <a:cs typeface="Times New Roman" panose="02020603050405020304" pitchFamily="18" charset="0"/>
              </a:rPr>
              <a:t> of generated LPs. the proposed algorithm has privacy issues because users must reveal their identity publicly. </a:t>
            </a:r>
            <a:r>
              <a:rPr lang="en-US" dirty="0" err="1">
                <a:latin typeface="Times New Roman" panose="02020603050405020304" pitchFamily="18" charset="0"/>
                <a:cs typeface="Times New Roman" panose="02020603050405020304" pitchFamily="18" charset="0"/>
              </a:rPr>
              <a:t>Javali</a:t>
            </a:r>
            <a:r>
              <a:rPr lang="en-US" dirty="0">
                <a:latin typeface="Times New Roman" panose="02020603050405020304" pitchFamily="18" charset="0"/>
                <a:cs typeface="Times New Roman" panose="02020603050405020304" pitchFamily="18" charset="0"/>
              </a:rPr>
              <a:t> et al have used the same idea to make their algorithm resistant against relay attacks. The proposed scheme consists of three entities, i.e., AP, verifier, and server, which make the system expensive. In addition, the user’s identity is revealed publicly, which might cause privacy issues.</a:t>
            </a:r>
          </a:p>
        </p:txBody>
      </p:sp>
    </p:spTree>
    <p:extLst>
      <p:ext uri="{BB962C8B-B14F-4D97-AF65-F5344CB8AC3E}">
        <p14:creationId xmlns:p14="http://schemas.microsoft.com/office/powerpoint/2010/main" val="170813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18213F-4A63-4068-9FFF-F1013B0E8E86}"/>
              </a:ext>
            </a:extLst>
          </p:cNvPr>
          <p:cNvSpPr>
            <a:spLocks noGrp="1"/>
          </p:cNvSpPr>
          <p:nvPr>
            <p:ph idx="4294967295"/>
          </p:nvPr>
        </p:nvSpPr>
        <p:spPr>
          <a:xfrm>
            <a:off x="849746" y="563418"/>
            <a:ext cx="10298546" cy="5454795"/>
          </a:xfrm>
        </p:spPr>
        <p:txBody>
          <a:bodyPr anchor="t">
            <a:noAutofit/>
          </a:bodyPr>
          <a:lstStyle/>
          <a:p>
            <a:pPr marL="0" indent="0" algn="just">
              <a:buNone/>
            </a:pPr>
            <a:r>
              <a:rPr lang="en-US" b="1" dirty="0"/>
              <a:t> </a:t>
            </a:r>
            <a:endParaRPr lang="en-US"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ABSTRACT:</a:t>
            </a:r>
          </a:p>
          <a:p>
            <a:pPr marL="0" indent="0" algn="just">
              <a:buNone/>
            </a:pPr>
            <a:r>
              <a:rPr lang="en-US" sz="1800" dirty="0">
                <a:latin typeface="Times New Roman" panose="02020603050405020304" pitchFamily="18" charset="0"/>
                <a:cs typeface="Times New Roman" panose="02020603050405020304" pitchFamily="18" charset="0"/>
              </a:rPr>
              <a:t>Recently, there has been a rapid growth in location-based systems and applications in which users submit their location information to service providers in order to gain access to a service, resource, or reward. We have seen that in these applications, dishonest users have an incentive to cheat on their location. Unfortunately, no effective protection mechanism has been adopted by service providers against these fake location submissions. This is a critical issue that causes severe consequences for these applications. Motivated by this, we propose the Privacy-Aware and Secure Proof Of </a:t>
            </a:r>
            <a:r>
              <a:rPr lang="en-US" sz="1800" dirty="0" err="1">
                <a:latin typeface="Times New Roman" panose="02020603050405020304" pitchFamily="18" charset="0"/>
                <a:cs typeface="Times New Roman" panose="02020603050405020304" pitchFamily="18" charset="0"/>
              </a:rPr>
              <a:t>pRoximiTy</a:t>
            </a:r>
            <a:r>
              <a:rPr lang="en-US" sz="1800" dirty="0">
                <a:latin typeface="Times New Roman" panose="02020603050405020304" pitchFamily="18" charset="0"/>
                <a:cs typeface="Times New Roman" panose="02020603050405020304" pitchFamily="18" charset="0"/>
              </a:rPr>
              <a:t> (PASPORT) scheme in this article to address the problem. Using PASPORT, users submit a location proof (LP) to service providers to prove that their submitted location is true. PASPORT has a decentralized architecture designed for ad hoc scenarios in which mobile users can act as witnesses and generate LPs for each other. It provides user privacy protection as well as security properties, such as unforgeability and non transferability of LPs. Furthermore, the PASPORT scheme is resilient to prover-prover collusions and significantly reduces the success probability of Prover-Witness collusion attacks. To further make the proximity checking process private, we propose P-TREAD, a privacy-aware distance bounding protocol and integrate it into PASPORT. To validate our model, we implement a prototype of the proposed scheme on the Android platform. Extensive experiments indicate that the proposed method can efficiently protect location-based applications against fake submissions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4292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E0E03E-F996-4927-87D9-17D218CCD77B}"/>
              </a:ext>
            </a:extLst>
          </p:cNvPr>
          <p:cNvSpPr txBox="1"/>
          <p:nvPr/>
        </p:nvSpPr>
        <p:spPr>
          <a:xfrm>
            <a:off x="840510" y="618837"/>
            <a:ext cx="10252364" cy="569386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LITERATURE SURVEY:</a:t>
            </a:r>
          </a:p>
          <a:p>
            <a:endParaRPr lang="en-US" sz="20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1.`Title : An exploration to location–based service and its privacy preserving techniques</a:t>
            </a:r>
          </a:p>
          <a:p>
            <a:r>
              <a:rPr lang="en-US" b="1" dirty="0">
                <a:latin typeface="Times New Roman" panose="02020603050405020304" pitchFamily="18" charset="0"/>
                <a:cs typeface="Times New Roman" panose="02020603050405020304" pitchFamily="18" charset="0"/>
              </a:rPr>
              <a:t>Author: </a:t>
            </a:r>
            <a:r>
              <a:rPr lang="en-US" dirty="0">
                <a:latin typeface="Times New Roman" panose="02020603050405020304" pitchFamily="18" charset="0"/>
                <a:cs typeface="Times New Roman" panose="02020603050405020304" pitchFamily="18" charset="0"/>
              </a:rPr>
              <a:t>R. Gupta and U. P. Rao</a:t>
            </a:r>
          </a:p>
          <a:p>
            <a:r>
              <a:rPr lang="en-US" dirty="0">
                <a:latin typeface="Times New Roman" panose="02020603050405020304" pitchFamily="18" charset="0"/>
                <a:cs typeface="Times New Roman" panose="02020603050405020304" pitchFamily="18" charset="0"/>
              </a:rPr>
              <a:t>Mobile gadgets today are swaggering computing potential and memory at par or at times even higher to that found in desktop personal computers. A wireless interconnection has turned out to be considerably more </a:t>
            </a:r>
            <a:r>
              <a:rPr lang="en-US" dirty="0" err="1">
                <a:latin typeface="Times New Roman" panose="02020603050405020304" pitchFamily="18" charset="0"/>
                <a:cs typeface="Times New Roman" panose="02020603050405020304" pitchFamily="18" charset="0"/>
              </a:rPr>
              <a:t>readilyaccessible</a:t>
            </a:r>
            <a:r>
              <a:rPr lang="en-US" dirty="0">
                <a:latin typeface="Times New Roman" panose="02020603050405020304" pitchFamily="18" charset="0"/>
                <a:cs typeface="Times New Roman" panose="02020603050405020304" pitchFamily="18" charset="0"/>
              </a:rPr>
              <a:t> these days. As individuals are growing mobile with regard to the fast lifestyle and working pattern, a new, smarter system came into existence that is termed as ‘Location Based Service’ (LBS). Such a system amalgamates the location data of a user with smart applications to deliver demanded services. Although </a:t>
            </a:r>
            <a:r>
              <a:rPr lang="en-US" dirty="0" err="1">
                <a:latin typeface="Times New Roman" panose="02020603050405020304" pitchFamily="18" charset="0"/>
                <a:cs typeface="Times New Roman" panose="02020603050405020304" pitchFamily="18" charset="0"/>
              </a:rPr>
              <a:t>LBSprovide</a:t>
            </a:r>
            <a:r>
              <a:rPr lang="en-US" dirty="0">
                <a:latin typeface="Times New Roman" panose="02020603050405020304" pitchFamily="18" charset="0"/>
                <a:cs typeface="Times New Roman" panose="02020603050405020304" pitchFamily="18" charset="0"/>
              </a:rPr>
              <a:t> major openings for a large variety of markets and remarkable convenience to the end user, it also presents subtle privacy attack to user’s location information. Threat to the privacy sneaks into the system due to the prerequisite of sending user’s current location to the LBS provider to attain related services. Since the volume of data gathered from dynamic or stationary mobile users using LBS can be high, it is vital to outline the frameworks and systems in a manner that is secure and keep the location information private. In this paper, we perform an exploratory survey about the various techniques that have been suggested by many researchers based on centralized and distributed approaches, to preserve location privacy of the user. A large portion of these techniques has a trade-off between privacy, efficiency, applicability and quality of service. This paper details and analyses the various existing techniques for preserving location privacy of the</a:t>
            </a:r>
          </a:p>
          <a:p>
            <a:r>
              <a:rPr lang="en-US" dirty="0">
                <a:latin typeface="Times New Roman" panose="02020603050405020304" pitchFamily="18" charset="0"/>
                <a:cs typeface="Times New Roman" panose="02020603050405020304" pitchFamily="18" charset="0"/>
              </a:rPr>
              <a:t>participating user in LBS.</a:t>
            </a:r>
          </a:p>
          <a:p>
            <a:endParaRPr lang="en-US" dirty="0"/>
          </a:p>
        </p:txBody>
      </p:sp>
    </p:spTree>
    <p:extLst>
      <p:ext uri="{BB962C8B-B14F-4D97-AF65-F5344CB8AC3E}">
        <p14:creationId xmlns:p14="http://schemas.microsoft.com/office/powerpoint/2010/main" val="3548709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E4DD55-8E85-4DFB-832C-20BEDB4986A3}"/>
              </a:ext>
            </a:extLst>
          </p:cNvPr>
          <p:cNvSpPr txBox="1"/>
          <p:nvPr/>
        </p:nvSpPr>
        <p:spPr>
          <a:xfrm>
            <a:off x="937490" y="621077"/>
            <a:ext cx="10317019" cy="538609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Existing:</a:t>
            </a:r>
          </a:p>
          <a:p>
            <a:r>
              <a:rPr lang="en-US" dirty="0">
                <a:latin typeface="Times New Roman" panose="02020603050405020304" pitchFamily="18" charset="0"/>
                <a:cs typeface="Times New Roman" panose="02020603050405020304" pitchFamily="18" charset="0"/>
              </a:rPr>
              <a:t>In our extensive literature review and to the best of our knowledge, we observed that all the current LP schemes suffer from at least one key drawback. First, some of these schemes are vulnerable to prover–prover (P–P) collusions . In this attack, a remote malicious prover colludes with a dishonest user (located at a desired site) to obtain an LP. The dishonest user submits an LP request to the neighbor witness devices on behalf of the remote prover. This security threat is called terrorist fraud in the literature (see Section III-A for more details).</a:t>
            </a:r>
          </a:p>
          <a:p>
            <a:r>
              <a:rPr lang="en-US" dirty="0">
                <a:latin typeface="Times New Roman" panose="02020603050405020304" pitchFamily="18" charset="0"/>
                <a:cs typeface="Times New Roman" panose="02020603050405020304" pitchFamily="18" charset="0"/>
              </a:rPr>
              <a:t>Second, none of the current distributed schemes offer a reliable solution for Prover–Witness (P–W) collusions. In this attack, a dishonest user acts as a witness for a remote malicious prover and generates a fake LP for him . Note that this security threat is specific to the distributed LP schemes only since witnesses are not trusted in this type of scheme. Finally, in some schemes, location privacy has not been considered i.e., users broadcast their identity for neighbor devices or a third party server during the LP generation or submission process.</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Disadvantage:</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problem using PASPORT, users submit a location proof (LP) to service providers to prove that their submitted location is true. In a distance hijacking attack, a remote malicious prover tries to provide wrong information about his distance to an honest verifier by exploiting the presence of one or multiple honest provers.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537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B7707-326F-40AB-8432-20BF49090498}"/>
              </a:ext>
            </a:extLst>
          </p:cNvPr>
          <p:cNvSpPr txBox="1"/>
          <p:nvPr/>
        </p:nvSpPr>
        <p:spPr>
          <a:xfrm>
            <a:off x="803564" y="591127"/>
            <a:ext cx="10594109" cy="569386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Proposed:</a:t>
            </a:r>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scheme provides the integrity and </a:t>
            </a:r>
            <a:r>
              <a:rPr lang="en-US" dirty="0" err="1">
                <a:latin typeface="Times New Roman" panose="02020603050405020304" pitchFamily="18" charset="0"/>
                <a:cs typeface="Times New Roman" panose="02020603050405020304" pitchFamily="18" charset="0"/>
              </a:rPr>
              <a:t>nontransferablity</a:t>
            </a:r>
            <a:r>
              <a:rPr lang="en-US" dirty="0">
                <a:latin typeface="Times New Roman" panose="02020603050405020304" pitchFamily="18" charset="0"/>
                <a:cs typeface="Times New Roman" panose="02020603050405020304" pitchFamily="18" charset="0"/>
              </a:rPr>
              <a:t> of generated LPs. To make PASPORT resistant to P–P collusions and perform private proximity checking, we develop a privacy-aware distance bounding (DB) protocol P-TREAD and integrate it into PASPORT. P-TREAD is a modified version of TREAD [33], a state of the art and secure DB protocol without privacy consideration. Our customization does not affect TREAD’s main structure and features. Thus, PASPORT benefits from its security guarantees. By employing P-TREAD as the DB mechanism, a malicious prover colluding with an adversary can easily be impersonated by the adversary later. Generally, users do not take such a risk by initiating a prover–prover collusion. The proposed scheme consists of three entities, i.e., AP, verifier, and server, which make the system expensive. In addition, the user’s identity is revealed publicly, which might cause privacy issues. We are producing all user details by using encryption algorithm for encryption algorithm we are using Identity-Based Broadcast Encryption methods using. User during the process of data upload and download. Security analysis demonstrates that </a:t>
            </a:r>
            <a:r>
              <a:rPr lang="en-US" dirty="0" err="1">
                <a:latin typeface="Times New Roman" panose="02020603050405020304" pitchFamily="18" charset="0"/>
                <a:cs typeface="Times New Roman" panose="02020603050405020304" pitchFamily="18" charset="0"/>
              </a:rPr>
              <a:t>KeyD</a:t>
            </a:r>
            <a:r>
              <a:rPr lang="en-US" dirty="0">
                <a:latin typeface="Times New Roman" panose="02020603050405020304" pitchFamily="18" charset="0"/>
                <a:cs typeface="Times New Roman" panose="02020603050405020304" pitchFamily="18" charset="0"/>
              </a:rPr>
              <a:t> ensures data confidentiality and convergent key security, and well protects the ownership privacy simultaneously.</a:t>
            </a:r>
          </a:p>
          <a:p>
            <a:r>
              <a:rPr lang="en-US" sz="2000" b="1" dirty="0">
                <a:latin typeface="Times New Roman" panose="02020603050405020304" pitchFamily="18" charset="0"/>
                <a:cs typeface="Times New Roman" panose="02020603050405020304" pitchFamily="18" charset="0"/>
              </a:rPr>
              <a:t>Advantage:</a:t>
            </a:r>
          </a:p>
          <a:p>
            <a:r>
              <a:rPr lang="en-US" dirty="0">
                <a:latin typeface="Times New Roman" panose="02020603050405020304" pitchFamily="18" charset="0"/>
                <a:cs typeface="Times New Roman" panose="02020603050405020304" pitchFamily="18" charset="0"/>
              </a:rPr>
              <a:t>The proposed scheme works faster than the existing distributed LP schemes and requires low computational resources. The proposed algorithm has privacy issues because users must reveal </a:t>
            </a:r>
            <a:r>
              <a:rPr lang="en-US" dirty="0" err="1">
                <a:latin typeface="Times New Roman" panose="02020603050405020304" pitchFamily="18" charset="0"/>
                <a:cs typeface="Times New Roman" panose="02020603050405020304" pitchFamily="18" charset="0"/>
              </a:rPr>
              <a:t>theiridentity</a:t>
            </a:r>
            <a:r>
              <a:rPr lang="en-US" dirty="0">
                <a:latin typeface="Times New Roman" panose="02020603050405020304" pitchFamily="18" charset="0"/>
                <a:cs typeface="Times New Roman" panose="02020603050405020304" pitchFamily="18" charset="0"/>
              </a:rPr>
              <a:t> publicly. Javelin et  al. have used the same idea to make their algorithm resistant against relay attacks Broadcast encryption schemes enable senders to efficiently broadcast ciphertexts to a large set of receivers in a way that only no revoked receivers can decrypt them. Identity-based encryption schemes are public key encryption schemes that can use arbitrary strings as public keys.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64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142936-056F-49EE-8F92-77A11051C359}"/>
              </a:ext>
            </a:extLst>
          </p:cNvPr>
          <p:cNvSpPr txBox="1"/>
          <p:nvPr/>
        </p:nvSpPr>
        <p:spPr>
          <a:xfrm>
            <a:off x="568170" y="-1118585"/>
            <a:ext cx="10102789" cy="369332"/>
          </a:xfrm>
          <a:prstGeom prst="rect">
            <a:avLst/>
          </a:prstGeom>
          <a:noFill/>
        </p:spPr>
        <p:txBody>
          <a:bodyPr wrap="square" rtlCol="0">
            <a:spAutoFit/>
          </a:bodyPr>
          <a:lstStyle/>
          <a:p>
            <a:r>
              <a:rPr lang="en-IN" dirty="0"/>
              <a:t>                                                                            </a:t>
            </a:r>
          </a:p>
        </p:txBody>
      </p:sp>
      <p:pic>
        <p:nvPicPr>
          <p:cNvPr id="1026" name="Picture 2">
            <a:extLst>
              <a:ext uri="{FF2B5EF4-FFF2-40B4-BE49-F238E27FC236}">
                <a16:creationId xmlns:a16="http://schemas.microsoft.com/office/drawing/2014/main" id="{E07A994D-676C-4D60-B989-FFFE44512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507" y="1228559"/>
            <a:ext cx="4975944" cy="40270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92E72D9-74FA-483D-B9F8-80C5F4CD3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455" y="1228559"/>
            <a:ext cx="5227781" cy="42208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15FFDB-FD71-4DCF-B0A1-C6052E7F6AA1}"/>
              </a:ext>
            </a:extLst>
          </p:cNvPr>
          <p:cNvSpPr txBox="1"/>
          <p:nvPr/>
        </p:nvSpPr>
        <p:spPr>
          <a:xfrm>
            <a:off x="878887" y="481000"/>
            <a:ext cx="4101485" cy="523220"/>
          </a:xfrm>
          <a:prstGeom prst="rect">
            <a:avLst/>
          </a:prstGeom>
          <a:noFill/>
        </p:spPr>
        <p:txBody>
          <a:bodyPr wrap="square" rtlCol="0">
            <a:spAutoFit/>
          </a:bodyPr>
          <a:lstStyle/>
          <a:p>
            <a:r>
              <a:rPr lang="en-IN" sz="2400" b="1" dirty="0"/>
              <a:t>SYSTEM ARCHITECTURE</a:t>
            </a:r>
            <a:r>
              <a:rPr lang="en-IN" sz="2800" b="1" dirty="0"/>
              <a:t>:</a:t>
            </a:r>
            <a:endParaRPr lang="en-IN" dirty="0"/>
          </a:p>
        </p:txBody>
      </p:sp>
    </p:spTree>
    <p:extLst>
      <p:ext uri="{BB962C8B-B14F-4D97-AF65-F5344CB8AC3E}">
        <p14:creationId xmlns:p14="http://schemas.microsoft.com/office/powerpoint/2010/main" val="3753026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71874-A31E-4B99-AC34-0E5D86A8F3EA}"/>
              </a:ext>
            </a:extLst>
          </p:cNvPr>
          <p:cNvSpPr txBox="1"/>
          <p:nvPr/>
        </p:nvSpPr>
        <p:spPr>
          <a:xfrm>
            <a:off x="858981" y="563418"/>
            <a:ext cx="10677235" cy="520142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ALGORITHM USED:</a:t>
            </a:r>
          </a:p>
          <a:p>
            <a:endParaRPr lang="en-US" sz="28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RSA Algorithm:</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RSA is one of the first practicable public-key cryptosystems and is widely used for secure data transmission. In such a cryptosystem, the encryption key is public and differs from the decryption key which is kept secret. In RSA, this asymmetry is based on the practical difficulty of factoring the product of two large prime numbers, the factoring problem. RSA stands for Ron Rivest, Adi Shamir and Leonard Adleman.</a:t>
            </a:r>
          </a:p>
          <a:p>
            <a:r>
              <a:rPr lang="en-US" dirty="0">
                <a:latin typeface="Times New Roman" panose="02020603050405020304" pitchFamily="18" charset="0"/>
                <a:cs typeface="Times New Roman" panose="02020603050405020304" pitchFamily="18" charset="0"/>
              </a:rPr>
              <a:t>RSA, or in other words Rivest–Shamir–Adleman, is an asymmetric cryptographic algorithm. It differs from symmetric algorithms like DES or AES by having two keys. A public key that we can share with</a:t>
            </a:r>
          </a:p>
          <a:p>
            <a:r>
              <a:rPr lang="en-US" dirty="0">
                <a:latin typeface="Times New Roman" panose="02020603050405020304" pitchFamily="18" charset="0"/>
                <a:cs typeface="Times New Roman" panose="02020603050405020304" pitchFamily="18" charset="0"/>
              </a:rPr>
              <a:t>anyone is used to encrypt data. And a private one that we keep only for ourselves and it’s used for decrypting the data.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Public Key comprises of (n, e).</a:t>
            </a:r>
          </a:p>
          <a:p>
            <a:r>
              <a:rPr lang="en-US" dirty="0">
                <a:latin typeface="Times New Roman" panose="02020603050405020304" pitchFamily="18" charset="0"/>
                <a:cs typeface="Times New Roman" panose="02020603050405020304" pitchFamily="18" charset="0"/>
              </a:rPr>
              <a:t>Private Key comprises of (n, d).</a:t>
            </a:r>
          </a:p>
          <a:p>
            <a:r>
              <a:rPr lang="en-US" dirty="0">
                <a:latin typeface="Times New Roman" panose="02020603050405020304" pitchFamily="18" charset="0"/>
                <a:cs typeface="Times New Roman" panose="02020603050405020304" pitchFamily="18" charset="0"/>
              </a:rPr>
              <a:t>Cipher text (encrypted), C = P e  mod n</a:t>
            </a:r>
          </a:p>
          <a:p>
            <a:r>
              <a:rPr lang="en-US" dirty="0">
                <a:latin typeface="Times New Roman" panose="02020603050405020304" pitchFamily="18" charset="0"/>
                <a:cs typeface="Times New Roman" panose="02020603050405020304" pitchFamily="18" charset="0"/>
              </a:rPr>
              <a:t>Plain text (decrypted), P = C d  mod 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09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A9BCE-651B-46BC-80A3-A40638983157}"/>
              </a:ext>
            </a:extLst>
          </p:cNvPr>
          <p:cNvSpPr txBox="1"/>
          <p:nvPr/>
        </p:nvSpPr>
        <p:spPr>
          <a:xfrm>
            <a:off x="748146" y="390617"/>
            <a:ext cx="10603346" cy="6186309"/>
          </a:xfrm>
          <a:prstGeom prst="rect">
            <a:avLst/>
          </a:prstGeom>
          <a:noFill/>
        </p:spPr>
        <p:txBody>
          <a:bodyPr wrap="square" rtlCol="0">
            <a:spAutoFit/>
          </a:bodyPr>
          <a:lstStyle/>
          <a:p>
            <a:endParaRPr lang="en-US" sz="2800" b="1" dirty="0"/>
          </a:p>
          <a:p>
            <a:r>
              <a:rPr lang="en-US" sz="2400" b="1" dirty="0">
                <a:latin typeface="Times New Roman" panose="02020603050405020304" pitchFamily="18" charset="0"/>
                <a:cs typeface="Times New Roman" panose="02020603050405020304" pitchFamily="18" charset="0"/>
              </a:rPr>
              <a:t>MODULE DESCRPTIONS: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Modules: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Prover Location privacy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Witness Location Privacy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Witness trust Modules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Prover:</a:t>
            </a:r>
          </a:p>
          <a:p>
            <a:r>
              <a:rPr lang="en-US" dirty="0">
                <a:latin typeface="Times New Roman" panose="02020603050405020304" pitchFamily="18" charset="0"/>
                <a:cs typeface="Times New Roman" panose="02020603050405020304" pitchFamily="18" charset="0"/>
              </a:rPr>
              <a:t>The provers can anonymously submit an Detail request to neighbor witnesses we limit a witness’ role to only collecting (not verifying) the required data from the prover (the verification is performed by the remote trusted verifier) All the privacy-sensitive data are encrypted by the prover and sent to a witness who signs and sends them back to the prover. after the claim is submitted to the verifier by the prover. the prover sends the following message Req to the verifier to inform it that he/she wants to Approval. provers’ proximity checking we integrate P-TREAD into the scheme to perform this job that is a more lightweight protocol regardless of its security advantages over the Bussard-</a:t>
            </a:r>
            <a:r>
              <a:rPr lang="en-US" dirty="0" err="1">
                <a:latin typeface="Times New Roman" panose="02020603050405020304" pitchFamily="18" charset="0"/>
                <a:cs typeface="Times New Roman" panose="02020603050405020304" pitchFamily="18" charset="0"/>
              </a:rPr>
              <a:t>Bagga</a:t>
            </a:r>
            <a:r>
              <a:rPr lang="en-US" dirty="0">
                <a:latin typeface="Times New Roman" panose="02020603050405020304" pitchFamily="18" charset="0"/>
                <a:cs typeface="Times New Roman" panose="02020603050405020304" pitchFamily="18" charset="0"/>
              </a:rPr>
              <a:t> protocol. To evaluate the impact of physical distance between the mobile users on LP generation, we conduct our experiments for different distances and compare the results to the performance.</a:t>
            </a:r>
          </a:p>
          <a:p>
            <a:endParaRPr lang="en-US" dirty="0"/>
          </a:p>
        </p:txBody>
      </p:sp>
    </p:spTree>
    <p:extLst>
      <p:ext uri="{BB962C8B-B14F-4D97-AF65-F5344CB8AC3E}">
        <p14:creationId xmlns:p14="http://schemas.microsoft.com/office/powerpoint/2010/main" val="402963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9B8148-343F-4FF9-AB85-55E29FFC03A9}"/>
              </a:ext>
            </a:extLst>
          </p:cNvPr>
          <p:cNvSpPr txBox="1"/>
          <p:nvPr/>
        </p:nvSpPr>
        <p:spPr>
          <a:xfrm>
            <a:off x="701336" y="710214"/>
            <a:ext cx="10697592" cy="541686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Verifier:</a:t>
            </a:r>
          </a:p>
          <a:p>
            <a:r>
              <a:rPr lang="en-US" dirty="0">
                <a:latin typeface="Times New Roman" panose="02020603050405020304" pitchFamily="18" charset="0"/>
                <a:cs typeface="Times New Roman" panose="02020603050405020304" pitchFamily="18" charset="0"/>
              </a:rPr>
              <a:t>Upon receiving the prover’s message, the verifier extracts all the witnesses who have recently (in a reasonable period of time) proved that they are in an acceptable distance to location Loc from its witness table (this acceptable distance is defined depending on the application). Then, K witnesses are selected among the shortlisted witnesses using the proposed trust model (see Section IV-E for more detail about the trust model). These K witnesses are then qualified to generate LPs for this prover. If there are not enough qualified witnesses, the verifier suspends this request until the necessary number of qualified witnesses becomes available. Then, the verifier generates a unique ID for this LP (LP_ID) and sends it to the selected witnesses and the prover as well.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Prover Location Privacy:</a:t>
            </a:r>
          </a:p>
          <a:p>
            <a:r>
              <a:rPr lang="en-US" dirty="0">
                <a:latin typeface="Times New Roman" panose="02020603050405020304" pitchFamily="18" charset="0"/>
                <a:cs typeface="Times New Roman" panose="02020603050405020304" pitchFamily="18" charset="0"/>
              </a:rPr>
              <a:t>The prover’s ID appears in messages Req, m1, and m4. These messages are encrypted by the verifier’s public key. Thus, the verifier is the only entity that can identify the prover and neither the witnesses nor an eavesdropper can see the prover’s ID. As we discussed earlier, the sign-then-encrypt model improves PASPORT’s ability to preserve user’s location privacy.</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Witness Location Privacy:</a:t>
            </a:r>
          </a:p>
          <a:p>
            <a:r>
              <a:rPr lang="en-US" dirty="0">
                <a:latin typeface="Times New Roman" panose="02020603050405020304" pitchFamily="18" charset="0"/>
                <a:cs typeface="Times New Roman" panose="02020603050405020304" pitchFamily="18" charset="0"/>
              </a:rPr>
              <a:t>Since a witness device encrypts its ID using the verifier’s public key, it is not feasible for the prover or an eavesdropper to identify the witness. Also, users’ signatures do not reveal their identity because of the employed sign-then-encrypt model.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2856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743EC-28DB-401B-8CF9-5529977B3F46}"/>
              </a:ext>
            </a:extLst>
          </p:cNvPr>
          <p:cNvSpPr txBox="1"/>
          <p:nvPr/>
        </p:nvSpPr>
        <p:spPr>
          <a:xfrm>
            <a:off x="769398" y="828493"/>
            <a:ext cx="10653203" cy="470898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Witness Trust Model: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integrate an entropy-based trust model into the PASPORT witness selection mechanism. Using this trust model, the verifier computes a trust score for a witness device based on its LP generation history. If the obtained score is above a threshold, the device is selected to witness for a requesting prover. In fact, a witness device receives threshold, the device is selected to witness for a requesting prover. In fact, a witness device receives a low score if it has issued many LPs for that prover. Thus, the prover device is prevented from receiving its LPs from a small group of witnesses </a:t>
            </a:r>
            <a:r>
              <a:rPr lang="en-US" sz="2000" dirty="0" err="1">
                <a:latin typeface="Times New Roman" panose="02020603050405020304" pitchFamily="18" charset="0"/>
                <a:cs typeface="Times New Roman" panose="02020603050405020304" pitchFamily="18" charset="0"/>
              </a:rPr>
              <a:t>only.a</a:t>
            </a:r>
            <a:r>
              <a:rPr lang="en-US" sz="2000" dirty="0">
                <a:latin typeface="Times New Roman" panose="02020603050405020304" pitchFamily="18" charset="0"/>
                <a:cs typeface="Times New Roman" panose="02020603050405020304" pitchFamily="18" charset="0"/>
              </a:rPr>
              <a:t> low score if it has issued many LPs for that prover. Thus, the prover device is prevented from receiving its LPs from a small group of witnesses </a:t>
            </a:r>
            <a:r>
              <a:rPr lang="en-US" sz="2000" dirty="0" err="1">
                <a:latin typeface="Times New Roman" panose="02020603050405020304" pitchFamily="18" charset="0"/>
                <a:cs typeface="Times New Roman" panose="02020603050405020304" pitchFamily="18" charset="0"/>
              </a:rPr>
              <a:t>only.In</a:t>
            </a:r>
            <a:r>
              <a:rPr lang="en-US" sz="2000" dirty="0">
                <a:latin typeface="Times New Roman" panose="02020603050405020304" pitchFamily="18" charset="0"/>
                <a:cs typeface="Times New Roman" panose="02020603050405020304" pitchFamily="18" charset="0"/>
              </a:rPr>
              <a:t> information theory, entropy represents the average amount of information that we get from a message produced by a stochastic source of data. It works based on the fact that when a low-probability message is received, it carries more information than when the source of data</a:t>
            </a:r>
          </a:p>
          <a:p>
            <a:r>
              <a:rPr lang="en-US" sz="2000" dirty="0">
                <a:latin typeface="Times New Roman" panose="02020603050405020304" pitchFamily="18" charset="0"/>
                <a:cs typeface="Times New Roman" panose="02020603050405020304" pitchFamily="18" charset="0"/>
              </a:rPr>
              <a:t>produces a high probability message . Thus, it is a suitable measure of the level of diversity and randomness that a prover device should have in the list of its witnesses.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58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C030DA-AEAB-E191-7D16-61E7D3B068B4}"/>
              </a:ext>
            </a:extLst>
          </p:cNvPr>
          <p:cNvSpPr txBox="1"/>
          <p:nvPr/>
        </p:nvSpPr>
        <p:spPr>
          <a:xfrm>
            <a:off x="812800" y="729674"/>
            <a:ext cx="10552545" cy="5618013"/>
          </a:xfrm>
          <a:prstGeom prst="rect">
            <a:avLst/>
          </a:prstGeom>
          <a:noFill/>
        </p:spPr>
        <p:txBody>
          <a:bodyPr wrap="square">
            <a:spAutoFit/>
          </a:bodyPr>
          <a:lstStyle/>
          <a:p>
            <a:pPr algn="just">
              <a:lnSpc>
                <a:spcPct val="150000"/>
              </a:lnSpc>
              <a:spcAft>
                <a:spcPts val="800"/>
              </a:spcAft>
            </a:pPr>
            <a:r>
              <a:rPr lang="en-SG" sz="2000" b="1" dirty="0">
                <a:latin typeface="Times New Roman" panose="02020603050405020304" pitchFamily="18" charset="0"/>
                <a:ea typeface="Calibri" panose="020F0502020204030204" pitchFamily="34" charset="0"/>
                <a:cs typeface="Times New Roman" panose="02020603050405020304" pitchFamily="18" charset="0"/>
              </a:rPr>
              <a:t>REFERENCES:</a:t>
            </a:r>
          </a:p>
          <a:p>
            <a:pPr algn="just">
              <a:lnSpc>
                <a:spcPct val="150000"/>
              </a:lnSpc>
              <a:spcAft>
                <a:spcPts val="800"/>
              </a:spcAft>
            </a:pPr>
            <a:r>
              <a:rPr lang="en-SG" sz="2000" dirty="0">
                <a:effectLst/>
                <a:latin typeface="Times New Roman" panose="02020603050405020304" pitchFamily="18" charset="0"/>
                <a:ea typeface="Calibri" panose="020F0502020204030204" pitchFamily="34" charset="0"/>
                <a:cs typeface="Times New Roman" panose="02020603050405020304" pitchFamily="18" charset="0"/>
              </a:rPr>
              <a:t>[1] P. Asuquo et al., “Security and privacy in location-based services for vehicular and mobile communications: An overview, challenges, and countermeasures,” IEEE Internet Things J., vol. 5, no. 6, pp. 4778–4802, Dec. 2018.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sz="2000" dirty="0">
                <a:effectLst/>
                <a:latin typeface="Times New Roman" panose="02020603050405020304" pitchFamily="18" charset="0"/>
                <a:ea typeface="Calibri" panose="020F0502020204030204" pitchFamily="34" charset="0"/>
                <a:cs typeface="Times New Roman" panose="02020603050405020304" pitchFamily="18" charset="0"/>
              </a:rPr>
              <a:t> [2] Q. D. Vo and P. De, “A survey of fingerprint-based outdoor localization,” IEEE Commun. Surveys Tuts., vol. 18, no. 1, pp. 491–506, 1st Quart., 2016.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sz="2000" dirty="0">
                <a:effectLst/>
                <a:latin typeface="Times New Roman" panose="02020603050405020304" pitchFamily="18" charset="0"/>
                <a:ea typeface="Calibri" panose="020F0502020204030204" pitchFamily="34" charset="0"/>
                <a:cs typeface="Times New Roman" panose="02020603050405020304" pitchFamily="18" charset="0"/>
              </a:rPr>
              <a:t>[3] R. Gupta and U. P. Rao, “An exploration to location–based service and its privacy preserving techniques: A survey,” Wireless Pers. Commun., vol. 96, no. 2, pp. 1973–2007, 2017.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sz="2000" dirty="0">
                <a:effectLst/>
                <a:latin typeface="Times New Roman" panose="02020603050405020304" pitchFamily="18" charset="0"/>
                <a:ea typeface="Calibri" panose="020F0502020204030204" pitchFamily="34" charset="0"/>
                <a:cs typeface="Times New Roman" panose="02020603050405020304" pitchFamily="18" charset="0"/>
              </a:rPr>
              <a:t>[4] Global Location–Based Services Market (2018–2023). Accessed: Jul. 20, 2019. [Online]. Available: https://www.businesswire.com/news/ home/20180927005490/</a:t>
            </a:r>
            <a:r>
              <a:rPr lang="en-SG" sz="2000" dirty="0" err="1">
                <a:effectLst/>
                <a:latin typeface="Times New Roman" panose="02020603050405020304" pitchFamily="18" charset="0"/>
                <a:ea typeface="Calibri" panose="020F0502020204030204" pitchFamily="34" charset="0"/>
                <a:cs typeface="Times New Roman" panose="02020603050405020304" pitchFamily="18" charset="0"/>
              </a:rPr>
              <a:t>en</a:t>
            </a:r>
            <a:r>
              <a:rPr lang="en-SG" sz="2000" dirty="0">
                <a:effectLst/>
                <a:latin typeface="Times New Roman" panose="02020603050405020304" pitchFamily="18" charset="0"/>
                <a:ea typeface="Calibri" panose="020F0502020204030204" pitchFamily="34" charset="0"/>
                <a:cs typeface="Times New Roman" panose="02020603050405020304" pitchFamily="18" charset="0"/>
              </a:rPr>
              <a:t>/Global–Location-based-Services-Market2018-2023-Projected-Grow.</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5281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AD519E-983A-BF1D-0780-1F4B0A990F14}"/>
              </a:ext>
            </a:extLst>
          </p:cNvPr>
          <p:cNvSpPr txBox="1"/>
          <p:nvPr/>
        </p:nvSpPr>
        <p:spPr>
          <a:xfrm>
            <a:off x="799289" y="1099463"/>
            <a:ext cx="10591800" cy="4505336"/>
          </a:xfrm>
          <a:prstGeom prst="rect">
            <a:avLst/>
          </a:prstGeom>
          <a:noFill/>
        </p:spPr>
        <p:txBody>
          <a:bodyPr wrap="square">
            <a:spAutoFit/>
          </a:bodyPr>
          <a:lstStyle/>
          <a:p>
            <a:pPr algn="just">
              <a:lnSpc>
                <a:spcPct val="150000"/>
              </a:lnSpc>
              <a:spcAft>
                <a:spcPts val="800"/>
              </a:spcAft>
            </a:pPr>
            <a:r>
              <a:rPr lang="en-SG" dirty="0">
                <a:effectLst/>
                <a:latin typeface="Times New Roman" panose="02020603050405020304" pitchFamily="18" charset="0"/>
                <a:ea typeface="Calibri" panose="020F0502020204030204" pitchFamily="34" charset="0"/>
                <a:cs typeface="Times New Roman" panose="02020603050405020304" pitchFamily="18" charset="0"/>
              </a:rPr>
              <a:t>[5] Y. Zheng, M. Li, W. Lou, and Y. T. Hou, “Location based handshake and private proximity test with location tags,” IEEE Trans. Depend. Sec. Comput., vol. 14, no. 4, pp. 406–419, Jul./Aug. 2017.</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dirty="0">
                <a:effectLst/>
                <a:latin typeface="Times New Roman" panose="02020603050405020304" pitchFamily="18" charset="0"/>
                <a:ea typeface="Calibri" panose="020F0502020204030204" pitchFamily="34" charset="0"/>
                <a:cs typeface="Times New Roman" panose="02020603050405020304" pitchFamily="18" charset="0"/>
              </a:rPr>
              <a:t> [6] Y. Li, L. Zhou, H. Zhu, and L. Sun, “Privacy–preserving location proof for securing large–scale database–driven cognitive radio networks,” IEEE Internet Things J., vol. 3, no. 4, pp. 563–571, Aug. 2016.</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dirty="0">
                <a:effectLst/>
                <a:latin typeface="Times New Roman" panose="02020603050405020304" pitchFamily="18" charset="0"/>
                <a:ea typeface="Calibri" panose="020F0502020204030204" pitchFamily="34" charset="0"/>
                <a:cs typeface="Times New Roman" panose="02020603050405020304" pitchFamily="18" charset="0"/>
              </a:rPr>
              <a:t> [7] A. Pham, K. </a:t>
            </a:r>
            <a:r>
              <a:rPr lang="en-SG" dirty="0" err="1">
                <a:effectLst/>
                <a:latin typeface="Times New Roman" panose="02020603050405020304" pitchFamily="18" charset="0"/>
                <a:ea typeface="Calibri" panose="020F0502020204030204" pitchFamily="34" charset="0"/>
                <a:cs typeface="Times New Roman" panose="02020603050405020304" pitchFamily="18" charset="0"/>
              </a:rPr>
              <a:t>Huguenin</a:t>
            </a:r>
            <a:r>
              <a:rPr lang="en-SG" dirty="0">
                <a:effectLst/>
                <a:latin typeface="Times New Roman" panose="02020603050405020304" pitchFamily="18" charset="0"/>
                <a:ea typeface="Calibri" panose="020F0502020204030204" pitchFamily="34" charset="0"/>
                <a:cs typeface="Times New Roman" panose="02020603050405020304" pitchFamily="18" charset="0"/>
              </a:rPr>
              <a:t>, I. </a:t>
            </a:r>
            <a:r>
              <a:rPr lang="en-SG" dirty="0" err="1">
                <a:effectLst/>
                <a:latin typeface="Times New Roman" panose="02020603050405020304" pitchFamily="18" charset="0"/>
                <a:ea typeface="Calibri" panose="020F0502020204030204" pitchFamily="34" charset="0"/>
                <a:cs typeface="Times New Roman" panose="02020603050405020304" pitchFamily="18" charset="0"/>
              </a:rPr>
              <a:t>Bilogrevic</a:t>
            </a:r>
            <a:r>
              <a:rPr lang="en-SG" dirty="0">
                <a:effectLst/>
                <a:latin typeface="Times New Roman" panose="02020603050405020304" pitchFamily="18" charset="0"/>
                <a:ea typeface="Calibri" panose="020F0502020204030204" pitchFamily="34" charset="0"/>
                <a:cs typeface="Times New Roman" panose="02020603050405020304" pitchFamily="18" charset="0"/>
              </a:rPr>
              <a:t>, I. </a:t>
            </a:r>
            <a:r>
              <a:rPr lang="en-SG" dirty="0" err="1">
                <a:effectLst/>
                <a:latin typeface="Times New Roman" panose="02020603050405020304" pitchFamily="18" charset="0"/>
                <a:ea typeface="Calibri" panose="020F0502020204030204" pitchFamily="34" charset="0"/>
                <a:cs typeface="Times New Roman" panose="02020603050405020304" pitchFamily="18" charset="0"/>
              </a:rPr>
              <a:t>Dacosta</a:t>
            </a:r>
            <a:r>
              <a:rPr lang="en-SG" dirty="0">
                <a:effectLst/>
                <a:latin typeface="Times New Roman" panose="02020603050405020304" pitchFamily="18" charset="0"/>
                <a:ea typeface="Calibri" panose="020F0502020204030204" pitchFamily="34" charset="0"/>
                <a:cs typeface="Times New Roman" panose="02020603050405020304" pitchFamily="18" charset="0"/>
              </a:rPr>
              <a:t>, and J. P. </a:t>
            </a:r>
            <a:r>
              <a:rPr lang="en-SG" dirty="0" err="1">
                <a:effectLst/>
                <a:latin typeface="Times New Roman" panose="02020603050405020304" pitchFamily="18" charset="0"/>
                <a:ea typeface="Calibri" panose="020F0502020204030204" pitchFamily="34" charset="0"/>
                <a:cs typeface="Times New Roman" panose="02020603050405020304" pitchFamily="18" charset="0"/>
              </a:rPr>
              <a:t>Hubaux</a:t>
            </a:r>
            <a:r>
              <a:rPr lang="en-SG" dirty="0">
                <a:effectLst/>
                <a:latin typeface="Times New Roman" panose="02020603050405020304" pitchFamily="18" charset="0"/>
                <a:ea typeface="Calibri" panose="020F0502020204030204" pitchFamily="34" charset="0"/>
                <a:cs typeface="Times New Roman" panose="02020603050405020304" pitchFamily="18" charset="0"/>
              </a:rPr>
              <a:t>, “</a:t>
            </a:r>
            <a:r>
              <a:rPr lang="en-SG" dirty="0" err="1">
                <a:effectLst/>
                <a:latin typeface="Times New Roman" panose="02020603050405020304" pitchFamily="18" charset="0"/>
                <a:ea typeface="Calibri" panose="020F0502020204030204" pitchFamily="34" charset="0"/>
                <a:cs typeface="Times New Roman" panose="02020603050405020304" pitchFamily="18" charset="0"/>
              </a:rPr>
              <a:t>SecureRun</a:t>
            </a:r>
            <a:r>
              <a:rPr lang="en-SG" dirty="0">
                <a:effectLst/>
                <a:latin typeface="Times New Roman" panose="02020603050405020304" pitchFamily="18" charset="0"/>
                <a:ea typeface="Calibri" panose="020F0502020204030204" pitchFamily="34" charset="0"/>
                <a:cs typeface="Times New Roman" panose="02020603050405020304" pitchFamily="18" charset="0"/>
              </a:rPr>
              <a:t>: Cheat–proof and private summaries for location–based activities,” IEEE Trans. Mobile Comput., vol. 15, no. 8, pp. 2109–2123, Aug. 2016.</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SG" dirty="0">
                <a:effectLst/>
                <a:latin typeface="Times New Roman" panose="02020603050405020304" pitchFamily="18" charset="0"/>
                <a:ea typeface="Calibri" panose="020F0502020204030204" pitchFamily="34" charset="0"/>
                <a:cs typeface="Times New Roman" panose="02020603050405020304" pitchFamily="18" charset="0"/>
              </a:rPr>
              <a:t> [8] Z. Gao, H. Zhu, Y. Liu, M. Li, and Z. Cao, “Location privacy in database-driven cognitive radio networks: Attacks and countermeasures,” in Proc. IEEE INFOCOM, Apr. 2013, pp. 2751–2759. [9] Z. Zhang et al., “On the validity of geosocial mobility traces,” in Proc. ACM Workshop Hot Topics Netw. (HotNets), 2013.</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338542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167</TotalTime>
  <Words>2764</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Garamond</vt:lpstr>
      <vt:lpstr>Times New Roman</vt:lpstr>
      <vt:lpstr>Organic</vt:lpstr>
      <vt:lpstr>WITNESS PROOF GENERATION WITH SECURE AND VERIFICATION FOR PASSPORT APPROVAL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sornalathamk2001@gmail.com</dc:creator>
  <cp:lastModifiedBy>swathi divakar</cp:lastModifiedBy>
  <cp:revision>27</cp:revision>
  <dcterms:created xsi:type="dcterms:W3CDTF">2022-04-27T14:13:36Z</dcterms:created>
  <dcterms:modified xsi:type="dcterms:W3CDTF">2022-05-08T08:08:17Z</dcterms:modified>
</cp:coreProperties>
</file>